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8"/>
    <p:restoredTop sz="94684"/>
  </p:normalViewPr>
  <p:slideViewPr>
    <p:cSldViewPr snapToGrid="0">
      <p:cViewPr varScale="1">
        <p:scale>
          <a:sx n="114" d="100"/>
          <a:sy n="114" d="100"/>
        </p:scale>
        <p:origin x="49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CA3921-5F39-5781-E3A8-1970960ADE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E2A2B0-0266-353D-36F1-FB14EB6590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A9A721-1DCD-83C6-8093-275856AAB1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1489B-A531-7047-B646-FDCE5BCDDF8F}" type="datetimeFigureOut">
              <a:rPr lang="en-US" smtClean="0"/>
              <a:t>1/30/26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0D2E89-669B-DE8E-81B8-0EF5FD5D7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5F3ED7-0033-A993-5C3D-B0CB1F8D8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9F1D4-01D7-5C45-BFFE-AE338EA274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9665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4EBB2-9236-82C5-BC04-C1CCBA30A8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E690FE-4155-189A-29CC-758E181A1F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6D1F69-B4EA-39F9-5F16-1832F3F17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1489B-A531-7047-B646-FDCE5BCDDF8F}" type="datetimeFigureOut">
              <a:rPr lang="en-US" smtClean="0"/>
              <a:t>1/30/26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9687AF-1BDE-9CC8-9B9A-423EC8AE3C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B613BC-11B2-FEC1-F342-EB6EAF699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9F1D4-01D7-5C45-BFFE-AE338EA274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08530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CF2154-4F4E-E10C-7984-F571F79BE5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F91C05-4073-FCE5-D775-F4901FBA7D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804B4-D2C7-026F-9EC8-CCCE40A444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1489B-A531-7047-B646-FDCE5BCDDF8F}" type="datetimeFigureOut">
              <a:rPr lang="en-US" smtClean="0"/>
              <a:t>1/30/26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035853-323E-8608-D3D4-8F1AAF303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3933B9-EE27-6C0C-9732-42B99D3450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9F1D4-01D7-5C45-BFFE-AE338EA274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02516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DDF591-EB63-D634-9683-7CBA85C2E5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D6A3F8-EA9F-87E4-5C36-1B4CBFAD08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714761-5B24-99FE-2816-04F3C2BE13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ED45C0-57B6-86DA-8EE5-BFBC78A404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1489B-A531-7047-B646-FDCE5BCDDF8F}" type="datetimeFigureOut">
              <a:rPr lang="en-US" smtClean="0"/>
              <a:t>1/30/26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31825D-DB8D-3082-0419-5F2249725B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BD5451-0EB9-FAA9-4733-4808B834F9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9F1D4-01D7-5C45-BFFE-AE338EA274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05379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AC90B-C620-726A-AB6F-90EC642CC8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2B31D-396C-2A8F-25E0-8AE8455BF9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D9015C-5DB1-EA39-E3E6-4F26C182EB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F1FAE1-952B-217D-FF28-9F2266B530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8630D5-0C6F-08BF-7635-87E32F9B32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413A457-65A8-0694-815A-B74D83B9F3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1489B-A531-7047-B646-FDCE5BCDDF8F}" type="datetimeFigureOut">
              <a:rPr lang="en-US" smtClean="0"/>
              <a:t>1/30/26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DCE5C61-2DA3-8B03-3E0F-57A65D5300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8D05E10-BF4F-F5F4-5B58-8D61C017D3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9F1D4-01D7-5C45-BFFE-AE338EA274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7877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7365E-E671-E7B9-DACD-6F1DCF3517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14056E5-7408-28DC-AC79-39F552D77C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1489B-A531-7047-B646-FDCE5BCDDF8F}" type="datetimeFigureOut">
              <a:rPr lang="en-US" smtClean="0"/>
              <a:t>1/30/26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539D7A-886A-7F2A-75AC-0D6F8FD488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340B5D-F07E-5D24-3017-77013A74F0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9F1D4-01D7-5C45-BFFE-AE338EA274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34894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E2EC71-2415-AA04-B645-5B1343339A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1489B-A531-7047-B646-FDCE5BCDDF8F}" type="datetimeFigureOut">
              <a:rPr lang="en-US" smtClean="0"/>
              <a:t>1/30/26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A1BC7D1-DF90-E3AF-079D-69140A5120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BFEFA3-2336-CADF-2802-65AF21AB5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9F1D4-01D7-5C45-BFFE-AE338EA274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43257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3F4CFF-0272-D413-9DA8-C256412CB1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E8E842-71CA-72DA-82B5-F4D5B5167C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291A5F-4CC5-0B26-2A9F-E98C68636A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78F9F1-50F8-46A6-A3FE-9B0004F243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1489B-A531-7047-B646-FDCE5BCDDF8F}" type="datetimeFigureOut">
              <a:rPr lang="en-US" smtClean="0"/>
              <a:t>1/30/26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47B2AC-A842-E3D3-7F8A-191589B55B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AF8472-B9DA-8C3C-AA0D-37D6094D07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9F1D4-01D7-5C45-BFFE-AE338EA274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20337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3D2863-433C-4767-3B8F-43EE128E25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4134CA5-3FFF-DA3F-D61D-364716C7EE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032650-07C0-25C3-F80F-C9D8EC8E6E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766DDF-4DA6-480D-B610-5394E7B6D8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1489B-A531-7047-B646-FDCE5BCDDF8F}" type="datetimeFigureOut">
              <a:rPr lang="en-US" smtClean="0"/>
              <a:t>1/30/26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0FB68F-6B33-F30C-6C9C-48480A5929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AE306D-EA9D-C70F-8EE6-975F1F038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9F1D4-01D7-5C45-BFFE-AE338EA274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85326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59AFC3-F39F-6323-7C77-DF81DF7087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DC7AC6-086E-C588-3582-1F58BA41AD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DB5DD1-5413-4EA5-CCC3-40CD4123D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1489B-A531-7047-B646-FDCE5BCDDF8F}" type="datetimeFigureOut">
              <a:rPr lang="en-US" smtClean="0"/>
              <a:t>1/30/26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F4D3B-B970-3533-AE12-F821A07D3D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138DCB-3ECA-73A9-2B03-D445985D1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9F1D4-01D7-5C45-BFFE-AE338EA274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85584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543BE82-F5A6-0B7D-C948-8B8CE39549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F48BDB-8815-3193-8895-0FD9A59F44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ECD351-DCAE-A172-CEB4-F6F928DD5E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1489B-A531-7047-B646-FDCE5BCDDF8F}" type="datetimeFigureOut">
              <a:rPr lang="en-US" smtClean="0"/>
              <a:t>1/30/26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808CC6-B543-63D0-6CCD-49F0091797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11E466-E525-B3B6-BEE6-5F2A55F4B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9F1D4-01D7-5C45-BFFE-AE338EA274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09294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AF4677E-D6AC-DA6F-1FEB-AEBFDD68C1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1B6450-8F05-042B-7DBE-4E72C8FD24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8DCD6E-4A06-7EE9-ACFE-6187671250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11489B-A531-7047-B646-FDCE5BCDDF8F}" type="datetimeFigureOut">
              <a:rPr lang="en-US" smtClean="0"/>
              <a:t>1/30/26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8ACBA9-8500-6102-A7E7-0369A7D10A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280461-9E08-272D-F3E1-BEA121EBCC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D9F1D4-01D7-5C45-BFFE-AE338EA274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0498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664AB-4C3F-9F87-A5E6-34B319CE41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275149"/>
          </a:xfrm>
        </p:spPr>
        <p:txBody>
          <a:bodyPr>
            <a:normAutofit/>
          </a:bodyPr>
          <a:lstStyle/>
          <a:p>
            <a:r>
              <a:rPr lang="en-US" sz="4500" b="1" dirty="0">
                <a:latin typeface="Calibri" panose="020F0502020204030204" pitchFamily="34" charset="0"/>
                <a:cs typeface="Calibri" panose="020F0502020204030204" pitchFamily="34" charset="0"/>
              </a:rPr>
              <a:t>Project Title &amp; Overview</a:t>
            </a:r>
            <a:endParaRPr lang="en-US" sz="45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E4C581-1EF5-E5AD-785F-A7D3851096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077930"/>
            <a:ext cx="9144000" cy="2133599"/>
          </a:xfrm>
        </p:spPr>
        <p:txBody>
          <a:bodyPr>
            <a:normAutofit/>
          </a:bodyPr>
          <a:lstStyle/>
          <a:p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Lane Detection Using Deep Learning</a:t>
            </a: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Capstone Project Proposal</a:t>
            </a: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Student: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Sagar Shah</a:t>
            </a:r>
            <a:b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Program: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M.S. in Data Science</a:t>
            </a:r>
            <a:b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Course: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Data Science Capstone (DATS 6501)</a:t>
            </a:r>
          </a:p>
          <a:p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92580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C9F5AD-F97C-84CC-93ED-58A5536B1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500" b="1" dirty="0">
                <a:latin typeface="Calibri" panose="020F0502020204030204" pitchFamily="34" charset="0"/>
                <a:cs typeface="Calibri" panose="020F0502020204030204" pitchFamily="34" charset="0"/>
              </a:rPr>
              <a:t>Overview</a:t>
            </a:r>
            <a:r>
              <a:rPr lang="en-US" sz="45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sz="45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A286EA-71CB-1CA1-17EF-A1F10BE809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This project focuses on building a deep learning–based lane detection system that identifies road lane boundaries from camera images. The goal is to improve robustness and reliability over traditional computer vision methods, especially under real-world driving conditions such as shadows, curves, and varying lighting.</a:t>
            </a:r>
          </a:p>
        </p:txBody>
      </p:sp>
    </p:spTree>
    <p:extLst>
      <p:ext uri="{BB962C8B-B14F-4D97-AF65-F5344CB8AC3E}">
        <p14:creationId xmlns:p14="http://schemas.microsoft.com/office/powerpoint/2010/main" val="39994175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91E78C-EFC1-A52A-4F38-2126AC53F9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500" b="1" dirty="0">
                <a:latin typeface="Calibri" panose="020F0502020204030204" pitchFamily="34" charset="0"/>
                <a:cs typeface="Calibri" panose="020F0502020204030204" pitchFamily="34" charset="0"/>
              </a:rPr>
              <a:t>Problem Statement &amp; Motivation</a:t>
            </a:r>
            <a:endParaRPr lang="en-US" sz="45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239EFD-77EB-F886-434E-5058956964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Problem Statement: </a:t>
            </a: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Lane detection is a critical component of driver assistance and autonomous driving systems. Traditional rule-based computer vision methods struggle in complex scenarios such as poor lighting, curved roads, and worn lane markings.</a:t>
            </a:r>
          </a:p>
          <a:p>
            <a:pPr marL="0" indent="0">
              <a:buNone/>
            </a:pP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Motivation: </a:t>
            </a: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Human drivers can lose attention, but automated systems do not</a:t>
            </a:r>
          </a:p>
          <a:p>
            <a:pPr lvl="0"/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Classical CV techniques require extensive manual tuning</a:t>
            </a:r>
          </a:p>
          <a:p>
            <a:pPr lvl="0"/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Deep learning can learn lane representations directly from data</a:t>
            </a:r>
          </a:p>
          <a:p>
            <a:pPr lvl="0"/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A reliable lane detection model improves road safety and driver confidence</a:t>
            </a:r>
          </a:p>
          <a:p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4129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40E6C-4195-593B-017A-34E1E208B3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500" b="1" dirty="0">
                <a:latin typeface="Calibri" panose="020F0502020204030204" pitchFamily="34" charset="0"/>
                <a:cs typeface="Calibri" panose="020F0502020204030204" pitchFamily="34" charset="0"/>
              </a:rPr>
              <a:t>Proposed Solution</a:t>
            </a:r>
            <a:endParaRPr lang="en-US" sz="45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D6479A-7EFF-88DB-7BEB-BE1F94EFA5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Proposed Approach: </a:t>
            </a: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Use a </a:t>
            </a: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Fully Convolutional Neural Network (FCN)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for lane detection</a:t>
            </a:r>
          </a:p>
          <a:p>
            <a:pPr lvl="0"/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Treat lane detection as a </a:t>
            </a: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pixel-level prediction problem</a:t>
            </a: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Input: road images captured from driving videos</a:t>
            </a:r>
          </a:p>
          <a:p>
            <a:pPr lvl="0"/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Output: predicted lane boundaries overlaid on the original image</a:t>
            </a:r>
          </a:p>
          <a:p>
            <a:pPr marL="0" lvl="0" indent="0">
              <a:buNone/>
            </a:pP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Why Deep Learning?: </a:t>
            </a: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Automatically learns spatial and contextual features</a:t>
            </a:r>
          </a:p>
          <a:p>
            <a:pPr lvl="0"/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More robust to lighting changes and road curvature</a:t>
            </a:r>
          </a:p>
          <a:p>
            <a:pPr lvl="0"/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Reduces dependency on handcrafted vision rules</a:t>
            </a:r>
          </a:p>
          <a:p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15466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91B854-44EC-791C-D849-792E2B3245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500" b="1" dirty="0">
                <a:latin typeface="Calibri" panose="020F0502020204030204" pitchFamily="34" charset="0"/>
                <a:cs typeface="Calibri" panose="020F0502020204030204" pitchFamily="34" charset="0"/>
              </a:rPr>
              <a:t>Data, Tools &amp; Evaluation</a:t>
            </a:r>
            <a:endParaRPr lang="en-US" sz="45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4199CB-8B73-4822-D7C1-8C2B39BA3E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Dataset: 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Road images extracted from multiple driving videos</a:t>
            </a:r>
          </a:p>
          <a:p>
            <a:pPr lvl="0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Includes diverse conditions: day/night, straight/curved roads, shadows</a:t>
            </a:r>
          </a:p>
          <a:p>
            <a:pPr lvl="0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Data augmentation used for better generalization</a:t>
            </a:r>
          </a:p>
          <a:p>
            <a:pPr lvl="0"/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Tech Stack: 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Programming Language: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Python</a:t>
            </a:r>
          </a:p>
          <a:p>
            <a:pPr lvl="0"/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Frameworks: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TensorFlow,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Keras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Libraries: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OpenCV, NumPy, Matplotlib</a:t>
            </a:r>
          </a:p>
          <a:p>
            <a:pPr lvl="0"/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Evaluation: 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Training loss (e.g., Mean Squared Error)</a:t>
            </a:r>
          </a:p>
          <a:p>
            <a:pPr lvl="0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Visual accuracy of detected lanes</a:t>
            </a:r>
          </a:p>
          <a:p>
            <a:pPr lvl="0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Comparison with a traditional computer vision baseline</a:t>
            </a:r>
          </a:p>
          <a:p>
            <a:pPr lvl="0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Performance on unseen test videos</a:t>
            </a:r>
          </a:p>
          <a:p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30342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D131C7-8902-857E-3628-F69E06342F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500" b="1" dirty="0">
                <a:latin typeface="Calibri" panose="020F0502020204030204" pitchFamily="34" charset="0"/>
                <a:cs typeface="Calibri" panose="020F0502020204030204" pitchFamily="34" charset="0"/>
              </a:rPr>
              <a:t>Expected Outcomes &amp; Impact</a:t>
            </a:r>
            <a:endParaRPr lang="en-US" sz="45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9E00F2-4DF9-0F7E-3CB6-81434C2718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Expected Outcomes: </a:t>
            </a: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A trained deep learning model capable of detecting lanes reliably</a:t>
            </a:r>
          </a:p>
          <a:p>
            <a:pPr lvl="0"/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A complete ML pipeline: data processing → training → inference</a:t>
            </a:r>
          </a:p>
          <a:p>
            <a:pPr lvl="0"/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Video demonstrations showing predicted lane boundaries</a:t>
            </a:r>
          </a:p>
          <a:p>
            <a:pPr lvl="0"/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Well-documented GitHub repository for academic and professional use</a:t>
            </a:r>
          </a:p>
          <a:p>
            <a:pPr marL="0" lvl="0" indent="0">
              <a:buNone/>
            </a:pP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Impact: </a:t>
            </a: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Demonstrates real-world application of deep learning</a:t>
            </a:r>
          </a:p>
          <a:p>
            <a:pPr lvl="0"/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Relevant to autonomous driving and ADAS systems</a:t>
            </a:r>
          </a:p>
          <a:p>
            <a:pPr lvl="0"/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Strong capstone artifact for job applications and portfolio</a:t>
            </a:r>
          </a:p>
          <a:p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77491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386</Words>
  <Application>Microsoft Macintosh PowerPoint</Application>
  <PresentationFormat>Widescreen</PresentationFormat>
  <Paragraphs>54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Calibri</vt:lpstr>
      <vt:lpstr>Office Theme</vt:lpstr>
      <vt:lpstr>Project Title &amp; Overview</vt:lpstr>
      <vt:lpstr>Overview </vt:lpstr>
      <vt:lpstr>Problem Statement &amp; Motivation</vt:lpstr>
      <vt:lpstr>Proposed Solution</vt:lpstr>
      <vt:lpstr>Data, Tools &amp; Evaluation</vt:lpstr>
      <vt:lpstr>Expected Outcomes &amp; Impact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SHAH, SAGAR</dc:creator>
  <cp:lastModifiedBy>SHAH, SAGAR</cp:lastModifiedBy>
  <cp:revision>2</cp:revision>
  <dcterms:created xsi:type="dcterms:W3CDTF">2026-01-30T16:58:42Z</dcterms:created>
  <dcterms:modified xsi:type="dcterms:W3CDTF">2026-01-30T17:51:25Z</dcterms:modified>
</cp:coreProperties>
</file>